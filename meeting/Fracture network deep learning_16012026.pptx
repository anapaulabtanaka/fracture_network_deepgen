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2" r:id="rId2"/>
    <p:sldId id="274" r:id="rId3"/>
    <p:sldId id="275" r:id="rId4"/>
    <p:sldId id="276" r:id="rId5"/>
    <p:sldId id="278" r:id="rId6"/>
    <p:sldId id="280" r:id="rId7"/>
    <p:sldId id="281" r:id="rId8"/>
    <p:sldId id="283" r:id="rId9"/>
  </p:sldIdLst>
  <p:sldSz cx="12192000" cy="6858000"/>
  <p:notesSz cx="6797675" cy="99282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CC00"/>
    <a:srgbClr val="00FF00"/>
    <a:srgbClr val="FF3399"/>
    <a:srgbClr val="0000FF"/>
    <a:srgbClr val="80808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B2F89-EECE-4D8F-9F06-6E43E55EC27A}" type="datetimeFigureOut">
              <a:rPr lang="fr-CH" smtClean="0"/>
              <a:t>16.01.2026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C39CB-0BDD-492D-8DCA-39AB284AA71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0583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CC8D73-2169-47D0-BA38-D23F5A1EB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B1B1498-B6BD-4EA8-8E09-5A3A0D44C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CE6ABC-B898-4693-85F4-494AF8EAA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095F-276F-4951-9607-785FC3881456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9E88E8-8295-4B36-8E39-E55C0197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21CD2D-9663-470C-806B-86240356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03858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881D8-2F2B-4FFE-B0A8-999A1F94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D89A23-8C37-47A1-9CF3-8F1DC1F46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4AF7E4-1D8F-4A05-9792-1679210B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8DDABAF-1E73-46E2-8DE0-D014389AF46D}" type="datetime1">
              <a:rPr lang="fr-CH" smtClean="0"/>
              <a:pPr/>
              <a:t>16.01.2026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902938-BA71-4164-8C65-ABDB76D0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3F8201-FD7A-40E0-9E29-73353AA5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247791-ADC1-474A-B370-05DC57981EFE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464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8CD13D-51B4-4500-9173-22EC25E60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AB8CEF-77FC-4770-8042-2052A8802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8AC6E2-BBFB-438D-9843-D062ECB6E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706D03-262C-49ED-8D7E-7076BAAC53FD}" type="datetime1">
              <a:rPr lang="fr-CH" smtClean="0"/>
              <a:pPr/>
              <a:t>16.01.2026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B10D92-DDE4-4FD1-BB46-366C844DC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F8870C-97D8-458C-BFB9-E2824C2E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247791-ADC1-474A-B370-05DC57981EFE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8680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FF1A2B-3AB2-46B2-9702-A6CFF5DE9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48943E-AE0C-4CF9-A956-9AE21BD570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07DB105-A34B-4351-B321-0B6CAF890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CEE11D-71C7-49E2-873C-B0F2F810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440A88-E218-46DC-A883-62003806B801}" type="datetime1">
              <a:rPr lang="fr-CH" smtClean="0"/>
              <a:pPr/>
              <a:t>16.01.2026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BFC91A-3F14-479B-9ACB-5EBEC3903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8CCDF4-9BB5-46BB-801A-291567F2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247791-ADC1-474A-B370-05DC57981EFE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5699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59822-7C0B-454F-942D-7028B3CC9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6537E0-D927-4A55-9AEE-558A9B8F2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0E25385-17BE-4130-994B-25F6E7288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4882C51-3E14-4DE0-BACC-0770B1549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B2FD70-A6FE-4548-A5F4-E1333D3F5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00E798E-D000-4B64-90DA-00FA3BB3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8939-782B-464F-A4E8-0D72889DD4DB}" type="datetime1">
              <a:rPr lang="fr-CH" smtClean="0"/>
              <a:t>16.01.2026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99CC29B-C0F8-4EF6-8F19-749C056C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CB23D4-DD4B-4198-9648-37AE7DC4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1133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24B3C5-402C-4B1B-AA8E-D529367CA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E0363CD-DBA6-40DF-8ACD-F50A16AF3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C73E2-B58D-4D19-895C-55E8CC4B4E0F}" type="datetime1">
              <a:rPr lang="fr-CH" smtClean="0"/>
              <a:t>16.01.2026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C1A4AB5-3245-43E9-8F7A-CEC166CB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69D4F76-5AF5-485E-8180-31704A7C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52033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2B6DB1A-D8B5-4A4F-AE3C-9954C60A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DD2AD-DF69-48C2-BCC7-23FBC8A7A001}" type="datetime1">
              <a:rPr lang="fr-CH" smtClean="0"/>
              <a:t>16.01.2026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4F785EB-4571-43EA-9515-E527B140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4324D2-2253-4B1C-85B2-A3509284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25077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E0E051-2B0C-433B-A23A-88628BACE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25D729-A9A0-4056-A4AD-00ADE12B2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D81A94-FA75-4E54-8D2C-BB529C979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62B24-9C43-4526-84A9-221AB1DE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0DD2-EDDB-48C6-9333-6552934CB8CD}" type="datetime1">
              <a:rPr lang="fr-CH" smtClean="0"/>
              <a:t>16.01.2026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095948-1B08-4A77-BFB9-11225ADB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6E5C27-CDA6-449F-9E0F-A6FFC2C9B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2360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094502-FE5C-4B2B-9AE6-FDFAA9D3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EC77D38-8675-44A8-A16A-CD6FF0CD0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81B2B8A-0486-4B7D-92A9-BC42B15D3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E520C3-2452-472C-8E66-8387987B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58F95-0B79-432B-8186-84117BAF7296}" type="datetime1">
              <a:rPr lang="fr-CH" smtClean="0"/>
              <a:t>16.01.2026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5D34B6A-D16D-4BE3-8B47-A07EFF3A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703A4C8-A7EB-44BD-8699-62683F45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7514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D7E99-ED60-4D5B-AE4D-100728A0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46F0CE-3A2E-4F1F-A020-2C2BBDED7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F6F243-F859-4605-9716-11D480FE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45CD-EBDD-4AEA-BE3D-7617F34431E9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E851C6-3139-4AC4-BE2B-B85D155F1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0E89F3-0F4C-4C72-BD63-6F96CE7D4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6427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AD0D56E-9A46-4CA9-90B9-63F73215A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124D1A-8B8D-4CD4-A615-F4E36D7F9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B17E55-9730-437E-90B9-39D36A2C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CD7D8-88EB-42FE-BCE6-AA06F00E4D1B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D1EF4E-62FC-49D8-8E42-40B49F116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CCB43F-0864-46B0-961C-721AE881E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63959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A82CBF1-3690-4593-ADD8-730DF8C2E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5FCE8C-87B2-4F35-85E6-91367B9F7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E8FEB6-7B44-4F78-928E-B3E50C43F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BF113-2771-44D3-8A49-546141E762D1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F44739-C1A9-46AE-9275-131CA0CC0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D69C1D-062F-496B-AE30-31CBA192B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47791-ADC1-474A-B370-05DC57981E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1863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C7AC55-5C22-391C-20C4-C1A22820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pPr/>
              <a:t>1</a:t>
            </a:fld>
            <a:endParaRPr lang="fr-CH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1F05F8C7-C2B4-C5F3-3BBE-6A545051A9BD}"/>
              </a:ext>
            </a:extLst>
          </p:cNvPr>
          <p:cNvSpPr txBox="1">
            <a:spLocks/>
          </p:cNvSpPr>
          <p:nvPr/>
        </p:nvSpPr>
        <p:spPr>
          <a:xfrm>
            <a:off x="-2" y="2034860"/>
            <a:ext cx="12192000" cy="136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Fracture network generation with graph deep learning</a:t>
            </a:r>
            <a:endParaRPr lang="fr-CH" b="1" dirty="0">
              <a:solidFill>
                <a:schemeClr val="tx1"/>
              </a:solidFill>
            </a:endParaRP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EEA20A57-3242-5EBC-78A3-D0EBE8D99FA1}"/>
              </a:ext>
            </a:extLst>
          </p:cNvPr>
          <p:cNvSpPr txBox="1">
            <a:spLocks/>
          </p:cNvSpPr>
          <p:nvPr/>
        </p:nvSpPr>
        <p:spPr>
          <a:xfrm>
            <a:off x="1" y="3675529"/>
            <a:ext cx="12191999" cy="1066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CH" dirty="0">
                <a:solidFill>
                  <a:schemeClr val="tx1"/>
                </a:solidFill>
              </a:rPr>
              <a:t>Ana Tanaka, Philippe Renard, Julien Straubhaar, Xiao Xia Liang, Dany Lauzon</a:t>
            </a:r>
          </a:p>
        </p:txBody>
      </p:sp>
    </p:spTree>
    <p:extLst>
      <p:ext uri="{BB962C8B-B14F-4D97-AF65-F5344CB8AC3E}">
        <p14:creationId xmlns:p14="http://schemas.microsoft.com/office/powerpoint/2010/main" val="1290925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4B3CA3-697E-849F-9741-ABAC9A46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chemeClr val="tx1"/>
                </a:solidFill>
              </a:rPr>
              <a:t>Collection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F6B33A-2C16-DF56-F126-E53E6F7E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pPr/>
              <a:t>2</a:t>
            </a:fld>
            <a:endParaRPr lang="fr-CH"/>
          </a:p>
        </p:txBody>
      </p:sp>
      <p:pic>
        <p:nvPicPr>
          <p:cNvPr id="14" name="Espace réservé du contenu 13" descr="Une image contenant texte&#10;&#10;Le contenu généré par l’IA peut être incorrect.">
            <a:extLst>
              <a:ext uri="{FF2B5EF4-FFF2-40B4-BE49-F238E27FC236}">
                <a16:creationId xmlns:a16="http://schemas.microsoft.com/office/drawing/2014/main" id="{92866924-8CF1-A8F7-EF1C-EB518670E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247" y="860361"/>
            <a:ext cx="5898625" cy="5495989"/>
          </a:xfrm>
        </p:spPr>
      </p:pic>
    </p:spTree>
    <p:extLst>
      <p:ext uri="{BB962C8B-B14F-4D97-AF65-F5344CB8AC3E}">
        <p14:creationId xmlns:p14="http://schemas.microsoft.com/office/powerpoint/2010/main" val="4048616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61E9DB-153D-0F71-FF23-088753390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>
                <a:solidFill>
                  <a:schemeClr val="tx1"/>
                </a:solidFill>
              </a:rPr>
              <a:t>GraphRNN</a:t>
            </a:r>
            <a:endParaRPr lang="fr-CH" dirty="0">
              <a:solidFill>
                <a:schemeClr val="tx1"/>
              </a:solidFill>
            </a:endParaRPr>
          </a:p>
        </p:txBody>
      </p:sp>
      <p:pic>
        <p:nvPicPr>
          <p:cNvPr id="6" name="Espace réservé du contenu 5" descr="Une image contenant texte, motif, flocon de neige&#10;&#10;Le contenu généré par l’IA peut être incorrect.">
            <a:extLst>
              <a:ext uri="{FF2B5EF4-FFF2-40B4-BE49-F238E27FC236}">
                <a16:creationId xmlns:a16="http://schemas.microsoft.com/office/drawing/2014/main" id="{E5C28A03-29EC-1884-7A0E-95D30AEDC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44" y="1603914"/>
            <a:ext cx="4248876" cy="4351338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A77223-49CB-B590-DAD2-9AE06D0F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pPr/>
              <a:t>3</a:t>
            </a:fld>
            <a:endParaRPr lang="fr-CH"/>
          </a:p>
        </p:txBody>
      </p:sp>
      <p:pic>
        <p:nvPicPr>
          <p:cNvPr id="8" name="Image 7" descr="Une image contenant diagramme, texte, Plan, Dessin technique&#10;&#10;Le contenu généré par l’IA peut être incorrect.">
            <a:extLst>
              <a:ext uri="{FF2B5EF4-FFF2-40B4-BE49-F238E27FC236}">
                <a16:creationId xmlns:a16="http://schemas.microsoft.com/office/drawing/2014/main" id="{9D85259B-B60D-B1DE-A530-103F0E5FC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770" y="1749012"/>
            <a:ext cx="685800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4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1805D-97FC-E5A8-72BC-E3BE2ADA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chemeClr val="tx1"/>
                </a:solidFill>
              </a:rPr>
              <a:t>DDPM</a:t>
            </a:r>
            <a:endParaRPr lang="fr-CH" dirty="0"/>
          </a:p>
        </p:txBody>
      </p:sp>
      <p:pic>
        <p:nvPicPr>
          <p:cNvPr id="6" name="Espace réservé du contenu 5" descr="Une image contenant texte, flocon de neige&#10;&#10;Le contenu généré par l’IA peut être incorrect.">
            <a:extLst>
              <a:ext uri="{FF2B5EF4-FFF2-40B4-BE49-F238E27FC236}">
                <a16:creationId xmlns:a16="http://schemas.microsoft.com/office/drawing/2014/main" id="{F865C7E9-F923-7582-8ADB-0D18019B5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4534"/>
          <a:stretch>
            <a:fillRect/>
          </a:stretch>
        </p:blipFill>
        <p:spPr>
          <a:xfrm>
            <a:off x="388327" y="1554389"/>
            <a:ext cx="5707673" cy="3095431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BA3EE4-1921-7619-54EB-A8E59301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pPr/>
              <a:t>4</a:t>
            </a:fld>
            <a:endParaRPr lang="fr-CH"/>
          </a:p>
        </p:txBody>
      </p:sp>
      <p:pic>
        <p:nvPicPr>
          <p:cNvPr id="8" name="Image 7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D50CC9F7-8842-6C32-8D2C-8410C3A321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829" y="1426864"/>
            <a:ext cx="5318545" cy="475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80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33D6F-5CF6-4724-4B70-898EC8382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14A8ED-283E-5E6F-5DB2-E34C8C807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chemeClr val="tx1"/>
                </a:solidFill>
              </a:rPr>
              <a:t>Stats </a:t>
            </a:r>
            <a:r>
              <a:rPr lang="fr-CH" dirty="0" err="1">
                <a:solidFill>
                  <a:schemeClr val="tx1"/>
                </a:solidFill>
              </a:rPr>
              <a:t>Karstnet</a:t>
            </a:r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6B7A6D-7953-5945-541A-BA24E5CA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pPr/>
              <a:t>5</a:t>
            </a:fld>
            <a:endParaRPr lang="fr-CH"/>
          </a:p>
        </p:txBody>
      </p:sp>
      <p:pic>
        <p:nvPicPr>
          <p:cNvPr id="9" name="Espace réservé du contenu 8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10FC4E20-701F-CCEB-E540-F55DA65A6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319" y="688502"/>
            <a:ext cx="5140017" cy="5804373"/>
          </a:xfrm>
        </p:spPr>
      </p:pic>
    </p:spTree>
    <p:extLst>
      <p:ext uri="{BB962C8B-B14F-4D97-AF65-F5344CB8AC3E}">
        <p14:creationId xmlns:p14="http://schemas.microsoft.com/office/powerpoint/2010/main" val="301607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B9DBB-9564-C661-2876-E37626F3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chemeClr val="tx1"/>
                </a:solidFill>
              </a:rPr>
              <a:t>Tries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5B6E9D-5358-914D-5C5C-2BB5785C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953" y="1621383"/>
            <a:ext cx="6720190" cy="4667250"/>
          </a:xfrm>
        </p:spPr>
        <p:txBody>
          <a:bodyPr>
            <a:normAutofit lnSpcReduction="10000"/>
          </a:bodyPr>
          <a:lstStyle/>
          <a:p>
            <a:r>
              <a:rPr lang="fr-CH" dirty="0" err="1">
                <a:solidFill>
                  <a:schemeClr val="tx1"/>
                </a:solidFill>
              </a:rPr>
              <a:t>Higher</a:t>
            </a:r>
            <a:r>
              <a:rPr lang="fr-CH" dirty="0">
                <a:solidFill>
                  <a:schemeClr val="tx1"/>
                </a:solidFill>
              </a:rPr>
              <a:t> </a:t>
            </a:r>
            <a:r>
              <a:rPr lang="fr-CH" dirty="0" err="1">
                <a:solidFill>
                  <a:schemeClr val="tx1"/>
                </a:solidFill>
              </a:rPr>
              <a:t>amount</a:t>
            </a:r>
            <a:r>
              <a:rPr lang="fr-CH" dirty="0">
                <a:solidFill>
                  <a:schemeClr val="tx1"/>
                </a:solidFill>
              </a:rPr>
              <a:t> of </a:t>
            </a:r>
            <a:r>
              <a:rPr lang="fr-CH" dirty="0" err="1">
                <a:solidFill>
                  <a:schemeClr val="tx1"/>
                </a:solidFill>
              </a:rPr>
              <a:t>subgraphs</a:t>
            </a:r>
            <a:r>
              <a:rPr lang="fr-CH" dirty="0">
                <a:solidFill>
                  <a:schemeClr val="tx1"/>
                </a:solidFill>
              </a:rPr>
              <a:t> for </a:t>
            </a:r>
            <a:r>
              <a:rPr lang="fr-CH" dirty="0" err="1">
                <a:solidFill>
                  <a:schemeClr val="tx1"/>
                </a:solidFill>
              </a:rPr>
              <a:t>trainning</a:t>
            </a:r>
            <a:r>
              <a:rPr lang="fr-CH" dirty="0">
                <a:solidFill>
                  <a:schemeClr val="tx1"/>
                </a:solidFill>
              </a:rPr>
              <a:t> (Data collection)</a:t>
            </a:r>
          </a:p>
          <a:p>
            <a:endParaRPr lang="fr-CH" dirty="0">
              <a:solidFill>
                <a:schemeClr val="tx1"/>
              </a:solidFill>
            </a:endParaRPr>
          </a:p>
          <a:p>
            <a:r>
              <a:rPr lang="fr-CH" dirty="0">
                <a:solidFill>
                  <a:schemeClr val="tx1"/>
                </a:solidFill>
              </a:rPr>
              <a:t>Change </a:t>
            </a:r>
            <a:r>
              <a:rPr lang="fr-CH" dirty="0" err="1">
                <a:solidFill>
                  <a:schemeClr val="tx1"/>
                </a:solidFill>
              </a:rPr>
              <a:t>batch_size</a:t>
            </a:r>
            <a:r>
              <a:rPr lang="fr-CH" dirty="0">
                <a:solidFill>
                  <a:schemeClr val="tx1"/>
                </a:solidFill>
              </a:rPr>
              <a:t>, </a:t>
            </a:r>
            <a:r>
              <a:rPr lang="fr-CH" dirty="0" err="1">
                <a:solidFill>
                  <a:schemeClr val="tx1"/>
                </a:solidFill>
              </a:rPr>
              <a:t>epochs</a:t>
            </a:r>
            <a:r>
              <a:rPr lang="fr-CH" dirty="0">
                <a:solidFill>
                  <a:schemeClr val="tx1"/>
                </a:solidFill>
              </a:rPr>
              <a:t> and </a:t>
            </a:r>
            <a:r>
              <a:rPr lang="fr-CH" dirty="0" err="1">
                <a:solidFill>
                  <a:schemeClr val="tx1"/>
                </a:solidFill>
              </a:rPr>
              <a:t>learning</a:t>
            </a:r>
            <a:r>
              <a:rPr lang="fr-CH" dirty="0">
                <a:solidFill>
                  <a:schemeClr val="tx1"/>
                </a:solidFill>
              </a:rPr>
              <a:t> rate (</a:t>
            </a:r>
            <a:r>
              <a:rPr lang="fr-CH" dirty="0" err="1">
                <a:solidFill>
                  <a:schemeClr val="tx1"/>
                </a:solidFill>
              </a:rPr>
              <a:t>GraphRNN</a:t>
            </a:r>
            <a:r>
              <a:rPr lang="fr-CH" dirty="0">
                <a:solidFill>
                  <a:schemeClr val="tx1"/>
                </a:solidFill>
              </a:rPr>
              <a:t> training) (DDPM training)</a:t>
            </a:r>
          </a:p>
          <a:p>
            <a:endParaRPr lang="fr-CH" dirty="0">
              <a:solidFill>
                <a:schemeClr val="tx1"/>
              </a:solidFill>
            </a:endParaRPr>
          </a:p>
          <a:p>
            <a:r>
              <a:rPr lang="fr-CH" dirty="0">
                <a:solidFill>
                  <a:schemeClr val="tx1"/>
                </a:solidFill>
              </a:rPr>
              <a:t>Forcing distance </a:t>
            </a:r>
            <a:r>
              <a:rPr lang="fr-CH" dirty="0" err="1">
                <a:solidFill>
                  <a:schemeClr val="tx1"/>
                </a:solidFill>
              </a:rPr>
              <a:t>among</a:t>
            </a:r>
            <a:r>
              <a:rPr lang="fr-CH" dirty="0">
                <a:solidFill>
                  <a:schemeClr val="tx1"/>
                </a:solidFill>
              </a:rPr>
              <a:t> </a:t>
            </a:r>
            <a:r>
              <a:rPr lang="fr-CH" dirty="0" err="1">
                <a:solidFill>
                  <a:schemeClr val="tx1"/>
                </a:solidFill>
              </a:rPr>
              <a:t>nodes</a:t>
            </a:r>
            <a:r>
              <a:rPr lang="fr-CH" dirty="0">
                <a:solidFill>
                  <a:schemeClr val="tx1"/>
                </a:solidFill>
              </a:rPr>
              <a:t> 	               Energy </a:t>
            </a:r>
            <a:r>
              <a:rPr lang="fr-CH" dirty="0" err="1">
                <a:solidFill>
                  <a:schemeClr val="tx1"/>
                </a:solidFill>
              </a:rPr>
              <a:t>guided</a:t>
            </a:r>
            <a:r>
              <a:rPr lang="fr-CH" dirty="0">
                <a:solidFill>
                  <a:schemeClr val="tx1"/>
                </a:solidFill>
              </a:rPr>
              <a:t> diffusion (DDPM </a:t>
            </a:r>
            <a:r>
              <a:rPr lang="fr-CH" dirty="0" err="1">
                <a:solidFill>
                  <a:schemeClr val="tx1"/>
                </a:solidFill>
              </a:rPr>
              <a:t>trainining</a:t>
            </a:r>
            <a:r>
              <a:rPr lang="fr-CH" dirty="0">
                <a:solidFill>
                  <a:schemeClr val="tx1"/>
                </a:solidFill>
              </a:rPr>
              <a:t>)</a:t>
            </a:r>
          </a:p>
          <a:p>
            <a:endParaRPr lang="fr-CH" dirty="0">
              <a:solidFill>
                <a:schemeClr val="tx1"/>
              </a:solidFill>
            </a:endParaRPr>
          </a:p>
          <a:p>
            <a:r>
              <a:rPr lang="fr-CH" dirty="0" err="1">
                <a:solidFill>
                  <a:schemeClr val="tx1"/>
                </a:solidFill>
              </a:rPr>
              <a:t>Avoid</a:t>
            </a:r>
            <a:r>
              <a:rPr lang="fr-CH" dirty="0">
                <a:solidFill>
                  <a:schemeClr val="tx1"/>
                </a:solidFill>
              </a:rPr>
              <a:t> </a:t>
            </a:r>
            <a:r>
              <a:rPr lang="fr-CH" dirty="0" err="1">
                <a:solidFill>
                  <a:schemeClr val="tx1"/>
                </a:solidFill>
              </a:rPr>
              <a:t>crossing</a:t>
            </a:r>
            <a:r>
              <a:rPr lang="fr-CH" dirty="0">
                <a:solidFill>
                  <a:schemeClr val="tx1"/>
                </a:solidFill>
              </a:rPr>
              <a:t> </a:t>
            </a:r>
            <a:r>
              <a:rPr lang="fr-CH" dirty="0" err="1">
                <a:solidFill>
                  <a:schemeClr val="tx1"/>
                </a:solidFill>
              </a:rPr>
              <a:t>Crossing</a:t>
            </a:r>
            <a:r>
              <a:rPr lang="fr-CH" dirty="0">
                <a:solidFill>
                  <a:schemeClr val="tx1"/>
                </a:solidFill>
              </a:rPr>
              <a:t> penalty           (DDPM training)</a:t>
            </a:r>
          </a:p>
          <a:p>
            <a:endParaRPr lang="fr-CH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CH" dirty="0">
              <a:solidFill>
                <a:schemeClr val="tx1"/>
              </a:solidFill>
            </a:endParaRPr>
          </a:p>
          <a:p>
            <a:endParaRPr lang="fr-CH" dirty="0">
              <a:solidFill>
                <a:schemeClr val="tx1"/>
              </a:solidFill>
            </a:endParaRPr>
          </a:p>
          <a:p>
            <a:endParaRPr lang="fr-CH" dirty="0">
              <a:solidFill>
                <a:schemeClr val="tx1"/>
              </a:solidFill>
            </a:endParaRPr>
          </a:p>
          <a:p>
            <a:endParaRPr lang="fr-CH" dirty="0">
              <a:solidFill>
                <a:schemeClr val="tx1"/>
              </a:solidFill>
            </a:endParaRPr>
          </a:p>
          <a:p>
            <a:endParaRPr lang="fr-CH" dirty="0">
              <a:solidFill>
                <a:schemeClr val="tx1"/>
              </a:solidFill>
            </a:endParaRPr>
          </a:p>
          <a:p>
            <a:endParaRPr lang="fr-CH" dirty="0">
              <a:solidFill>
                <a:schemeClr val="tx1"/>
              </a:solidFill>
            </a:endParaRPr>
          </a:p>
          <a:p>
            <a:endParaRPr lang="fr-CH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CC0F2F-83F4-502B-26AC-B6BB17E37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pPr/>
              <a:t>6</a:t>
            </a:fld>
            <a:endParaRPr lang="fr-CH"/>
          </a:p>
        </p:txBody>
      </p:sp>
      <p:pic>
        <p:nvPicPr>
          <p:cNvPr id="6" name="Image 5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88D4AACA-05BF-D140-3837-58BB5EE40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25" t="25533" r="47421" b="43246"/>
          <a:stretch>
            <a:fillRect/>
          </a:stretch>
        </p:blipFill>
        <p:spPr>
          <a:xfrm>
            <a:off x="7859949" y="492558"/>
            <a:ext cx="4009418" cy="2253799"/>
          </a:xfrm>
          <a:prstGeom prst="rect">
            <a:avLst/>
          </a:prstGeom>
        </p:spPr>
      </p:pic>
      <p:pic>
        <p:nvPicPr>
          <p:cNvPr id="12" name="Image 11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B51A9BCB-06C3-8EBA-CFFD-38E9765B58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19" t="17305" r="47181" b="56161"/>
          <a:stretch>
            <a:fillRect/>
          </a:stretch>
        </p:blipFill>
        <p:spPr>
          <a:xfrm>
            <a:off x="7920062" y="2841450"/>
            <a:ext cx="3949305" cy="1877438"/>
          </a:xfrm>
          <a:prstGeom prst="rect">
            <a:avLst/>
          </a:prstGeom>
        </p:spPr>
      </p:pic>
      <p:pic>
        <p:nvPicPr>
          <p:cNvPr id="14" name="Image 13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4928F857-3504-8D25-C912-3CC377A306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298" t="17120" r="38723" b="55863"/>
          <a:stretch>
            <a:fillRect/>
          </a:stretch>
        </p:blipFill>
        <p:spPr>
          <a:xfrm>
            <a:off x="7920062" y="4846321"/>
            <a:ext cx="3949305" cy="151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08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8BDF41-A077-D505-431D-894FC966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>
                <a:solidFill>
                  <a:schemeClr val="tx1"/>
                </a:solidFill>
              </a:rPr>
              <a:t>Ideas</a:t>
            </a:r>
            <a:r>
              <a:rPr lang="fr-CH" dirty="0">
                <a:solidFill>
                  <a:schemeClr val="tx1"/>
                </a:solidFill>
              </a:rPr>
              <a:t> to </a:t>
            </a:r>
            <a:r>
              <a:rPr lang="fr-CH" dirty="0" err="1">
                <a:solidFill>
                  <a:schemeClr val="tx1"/>
                </a:solidFill>
              </a:rPr>
              <a:t>improve</a:t>
            </a:r>
            <a:r>
              <a:rPr lang="fr-CH" dirty="0">
                <a:solidFill>
                  <a:schemeClr val="tx1"/>
                </a:solidFill>
              </a:rPr>
              <a:t> the model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44AF52-59ED-D8F0-B979-4F996448E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5480"/>
            <a:ext cx="10883630" cy="4351338"/>
          </a:xfrm>
        </p:spPr>
        <p:txBody>
          <a:bodyPr>
            <a:normAutofit fontScale="92500" lnSpcReduction="20000"/>
          </a:bodyPr>
          <a:lstStyle/>
          <a:p>
            <a:r>
              <a:rPr lang="fr-CH" dirty="0" err="1">
                <a:solidFill>
                  <a:schemeClr val="tx1"/>
                </a:solidFill>
              </a:rPr>
              <a:t>Changing</a:t>
            </a:r>
            <a:r>
              <a:rPr lang="fr-CH" dirty="0">
                <a:solidFill>
                  <a:schemeClr val="tx1"/>
                </a:solidFill>
              </a:rPr>
              <a:t> </a:t>
            </a:r>
            <a:r>
              <a:rPr lang="fr-CH" dirty="0" err="1">
                <a:solidFill>
                  <a:schemeClr val="tx1"/>
                </a:solidFill>
              </a:rPr>
              <a:t>parameters</a:t>
            </a:r>
            <a:r>
              <a:rPr lang="fr-CH" dirty="0">
                <a:solidFill>
                  <a:schemeClr val="tx1"/>
                </a:solidFill>
              </a:rPr>
              <a:t>?</a:t>
            </a:r>
          </a:p>
          <a:p>
            <a:endParaRPr lang="fr-CH" dirty="0">
              <a:solidFill>
                <a:schemeClr val="tx1"/>
              </a:solidFill>
            </a:endParaRPr>
          </a:p>
          <a:p>
            <a:r>
              <a:rPr lang="fr-CH" dirty="0" err="1">
                <a:solidFill>
                  <a:schemeClr val="tx1"/>
                </a:solidFill>
              </a:rPr>
              <a:t>Retraining</a:t>
            </a:r>
            <a:r>
              <a:rPr lang="fr-CH" dirty="0">
                <a:solidFill>
                  <a:schemeClr val="tx1"/>
                </a:solidFill>
              </a:rPr>
              <a:t> the diffusion model </a:t>
            </a:r>
            <a:r>
              <a:rPr lang="fr-CH" dirty="0" err="1">
                <a:solidFill>
                  <a:schemeClr val="tx1"/>
                </a:solidFill>
              </a:rPr>
              <a:t>with</a:t>
            </a:r>
            <a:r>
              <a:rPr lang="fr-CH" dirty="0">
                <a:solidFill>
                  <a:schemeClr val="tx1"/>
                </a:solidFill>
              </a:rPr>
              <a:t> a </a:t>
            </a:r>
            <a:r>
              <a:rPr lang="fr-CH" dirty="0" err="1">
                <a:solidFill>
                  <a:schemeClr val="tx1"/>
                </a:solidFill>
              </a:rPr>
              <a:t>larger</a:t>
            </a:r>
            <a:r>
              <a:rPr lang="fr-CH" dirty="0">
                <a:solidFill>
                  <a:schemeClr val="tx1"/>
                </a:solidFill>
              </a:rPr>
              <a:t> </a:t>
            </a:r>
            <a:r>
              <a:rPr lang="fr-CH" dirty="0" err="1">
                <a:solidFill>
                  <a:schemeClr val="tx1"/>
                </a:solidFill>
              </a:rPr>
              <a:t>amount</a:t>
            </a:r>
            <a:r>
              <a:rPr lang="fr-CH" dirty="0">
                <a:solidFill>
                  <a:schemeClr val="tx1"/>
                </a:solidFill>
              </a:rPr>
              <a:t> of fracture networks </a:t>
            </a:r>
          </a:p>
          <a:p>
            <a:pPr lvl="1"/>
            <a:endParaRPr lang="fr-CH" sz="2600" dirty="0">
              <a:solidFill>
                <a:schemeClr val="tx1"/>
              </a:solidFill>
            </a:endParaRPr>
          </a:p>
          <a:p>
            <a:pPr lvl="1"/>
            <a:r>
              <a:rPr lang="fr-CH" sz="2600" dirty="0">
                <a:solidFill>
                  <a:schemeClr val="tx1"/>
                </a:solidFill>
              </a:rPr>
              <a:t>Let the model </a:t>
            </a:r>
            <a:r>
              <a:rPr lang="fr-CH" sz="2600" dirty="0" err="1">
                <a:solidFill>
                  <a:schemeClr val="tx1"/>
                </a:solidFill>
              </a:rPr>
              <a:t>learn</a:t>
            </a:r>
            <a:r>
              <a:rPr lang="fr-CH" sz="2600" dirty="0">
                <a:solidFill>
                  <a:schemeClr val="tx1"/>
                </a:solidFill>
              </a:rPr>
              <a:t> </a:t>
            </a:r>
            <a:r>
              <a:rPr lang="fr-CH" sz="2600" dirty="0" err="1">
                <a:solidFill>
                  <a:schemeClr val="tx1"/>
                </a:solidFill>
              </a:rPr>
              <a:t>with</a:t>
            </a:r>
            <a:r>
              <a:rPr lang="fr-CH" sz="2600" dirty="0">
                <a:solidFill>
                  <a:schemeClr val="tx1"/>
                </a:solidFill>
              </a:rPr>
              <a:t> </a:t>
            </a:r>
            <a:r>
              <a:rPr lang="fr-CH" sz="2600" dirty="0" err="1">
                <a:solidFill>
                  <a:schemeClr val="tx1"/>
                </a:solidFill>
              </a:rPr>
              <a:t>various</a:t>
            </a:r>
            <a:r>
              <a:rPr lang="fr-CH" sz="2600" dirty="0">
                <a:solidFill>
                  <a:schemeClr val="tx1"/>
                </a:solidFill>
              </a:rPr>
              <a:t> </a:t>
            </a:r>
            <a:r>
              <a:rPr lang="fr-CH" sz="2600" dirty="0" err="1">
                <a:solidFill>
                  <a:schemeClr val="tx1"/>
                </a:solidFill>
              </a:rPr>
              <a:t>datasets</a:t>
            </a:r>
            <a:r>
              <a:rPr lang="fr-CH" sz="2600" dirty="0">
                <a:solidFill>
                  <a:schemeClr val="tx1"/>
                </a:solidFill>
              </a:rPr>
              <a:t> of 2D fracture networks</a:t>
            </a:r>
          </a:p>
          <a:p>
            <a:pPr lvl="1"/>
            <a:r>
              <a:rPr lang="fr-CH" sz="2600" dirty="0" err="1">
                <a:solidFill>
                  <a:schemeClr val="tx1"/>
                </a:solidFill>
              </a:rPr>
              <a:t>Then</a:t>
            </a:r>
            <a:r>
              <a:rPr lang="fr-CH" sz="2600" dirty="0">
                <a:solidFill>
                  <a:schemeClr val="tx1"/>
                </a:solidFill>
              </a:rPr>
              <a:t> </a:t>
            </a:r>
            <a:r>
              <a:rPr lang="fr-CH" sz="2600" dirty="0" err="1">
                <a:solidFill>
                  <a:schemeClr val="tx1"/>
                </a:solidFill>
              </a:rPr>
              <a:t>apply</a:t>
            </a:r>
            <a:r>
              <a:rPr lang="fr-CH" sz="2600" dirty="0">
                <a:solidFill>
                  <a:schemeClr val="tx1"/>
                </a:solidFill>
              </a:rPr>
              <a:t> the </a:t>
            </a:r>
            <a:r>
              <a:rPr lang="fr-CH" sz="2600" dirty="0" err="1">
                <a:solidFill>
                  <a:schemeClr val="tx1"/>
                </a:solidFill>
              </a:rPr>
              <a:t>weights</a:t>
            </a:r>
            <a:r>
              <a:rPr lang="fr-CH" sz="2600" dirty="0">
                <a:solidFill>
                  <a:schemeClr val="tx1"/>
                </a:solidFill>
              </a:rPr>
              <a:t> to </a:t>
            </a:r>
            <a:r>
              <a:rPr lang="fr-CH" sz="2600" dirty="0" err="1">
                <a:solidFill>
                  <a:schemeClr val="tx1"/>
                </a:solidFill>
              </a:rPr>
              <a:t>try</a:t>
            </a:r>
            <a:r>
              <a:rPr lang="fr-CH" sz="2600" dirty="0">
                <a:solidFill>
                  <a:schemeClr val="tx1"/>
                </a:solidFill>
              </a:rPr>
              <a:t> to </a:t>
            </a:r>
            <a:r>
              <a:rPr lang="fr-CH" sz="2600" dirty="0" err="1">
                <a:solidFill>
                  <a:schemeClr val="tx1"/>
                </a:solidFill>
              </a:rPr>
              <a:t>reproduce</a:t>
            </a:r>
            <a:r>
              <a:rPr lang="fr-CH" sz="2600" dirty="0">
                <a:solidFill>
                  <a:schemeClr val="tx1"/>
                </a:solidFill>
              </a:rPr>
              <a:t> a new network </a:t>
            </a:r>
            <a:r>
              <a:rPr lang="fr-CH" sz="2600" dirty="0" err="1">
                <a:solidFill>
                  <a:schemeClr val="tx1"/>
                </a:solidFill>
              </a:rPr>
              <a:t>from</a:t>
            </a:r>
            <a:r>
              <a:rPr lang="fr-CH" sz="2600" dirty="0">
                <a:solidFill>
                  <a:schemeClr val="tx1"/>
                </a:solidFill>
              </a:rPr>
              <a:t> a </a:t>
            </a:r>
            <a:r>
              <a:rPr lang="fr-CH" sz="2600" dirty="0" err="1">
                <a:solidFill>
                  <a:schemeClr val="tx1"/>
                </a:solidFill>
              </a:rPr>
              <a:t>specific</a:t>
            </a:r>
            <a:r>
              <a:rPr lang="fr-CH" sz="2600" dirty="0">
                <a:solidFill>
                  <a:schemeClr val="tx1"/>
                </a:solidFill>
              </a:rPr>
              <a:t> one</a:t>
            </a:r>
          </a:p>
          <a:p>
            <a:pPr lvl="1"/>
            <a:r>
              <a:rPr lang="fr-CH" sz="2600" dirty="0" err="1">
                <a:solidFill>
                  <a:schemeClr val="tx1"/>
                </a:solidFill>
              </a:rPr>
              <a:t>Develop</a:t>
            </a:r>
            <a:r>
              <a:rPr lang="fr-CH" sz="2600" dirty="0">
                <a:solidFill>
                  <a:schemeClr val="tx1"/>
                </a:solidFill>
              </a:rPr>
              <a:t> a new process to </a:t>
            </a:r>
            <a:r>
              <a:rPr lang="fr-CH" sz="2600" dirty="0" err="1">
                <a:solidFill>
                  <a:schemeClr val="tx1"/>
                </a:solidFill>
              </a:rPr>
              <a:t>connect</a:t>
            </a:r>
            <a:r>
              <a:rPr lang="fr-CH" sz="2600" dirty="0">
                <a:solidFill>
                  <a:schemeClr val="tx1"/>
                </a:solidFill>
              </a:rPr>
              <a:t> the </a:t>
            </a:r>
            <a:r>
              <a:rPr lang="fr-CH" sz="2600" dirty="0" err="1">
                <a:solidFill>
                  <a:schemeClr val="tx1"/>
                </a:solidFill>
              </a:rPr>
              <a:t>edges</a:t>
            </a:r>
            <a:r>
              <a:rPr lang="fr-CH" sz="2600" dirty="0">
                <a:solidFill>
                  <a:schemeClr val="tx1"/>
                </a:solidFill>
              </a:rPr>
              <a:t> </a:t>
            </a:r>
            <a:r>
              <a:rPr lang="fr-CH" sz="2600" dirty="0" err="1">
                <a:solidFill>
                  <a:schemeClr val="tx1"/>
                </a:solidFill>
              </a:rPr>
              <a:t>with</a:t>
            </a:r>
            <a:r>
              <a:rPr lang="fr-CH" sz="2600" dirty="0">
                <a:solidFill>
                  <a:schemeClr val="tx1"/>
                </a:solidFill>
              </a:rPr>
              <a:t> </a:t>
            </a:r>
            <a:r>
              <a:rPr lang="fr-CH" sz="2600" dirty="0" err="1">
                <a:solidFill>
                  <a:schemeClr val="tx1"/>
                </a:solidFill>
              </a:rPr>
              <a:t>specific</a:t>
            </a:r>
            <a:r>
              <a:rPr lang="fr-CH" sz="2600" dirty="0">
                <a:solidFill>
                  <a:schemeClr val="tx1"/>
                </a:solidFill>
              </a:rPr>
              <a:t> </a:t>
            </a:r>
            <a:r>
              <a:rPr lang="fr-CH" sz="2600" dirty="0" err="1">
                <a:solidFill>
                  <a:schemeClr val="tx1"/>
                </a:solidFill>
              </a:rPr>
              <a:t>constrains</a:t>
            </a:r>
            <a:endParaRPr lang="fr-CH" sz="2600" dirty="0">
              <a:solidFill>
                <a:schemeClr val="tx1"/>
              </a:solidFill>
            </a:endParaRPr>
          </a:p>
          <a:p>
            <a:pPr lvl="1"/>
            <a:endParaRPr lang="fr-CH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CH" dirty="0">
                <a:solidFill>
                  <a:schemeClr val="tx1"/>
                </a:solidFill>
              </a:rPr>
              <a:t>____________________________________________</a:t>
            </a:r>
          </a:p>
          <a:p>
            <a:endParaRPr lang="fr-CH" sz="26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CH" sz="2600" dirty="0">
                <a:solidFill>
                  <a:schemeClr val="tx1"/>
                </a:solidFill>
              </a:rPr>
              <a:t> </a:t>
            </a:r>
            <a:r>
              <a:rPr lang="fr-CH" sz="2600" dirty="0" err="1">
                <a:solidFill>
                  <a:schemeClr val="tx1"/>
                </a:solidFill>
              </a:rPr>
              <a:t>Gathering</a:t>
            </a:r>
            <a:r>
              <a:rPr lang="fr-CH" sz="2600" dirty="0">
                <a:solidFill>
                  <a:schemeClr val="tx1"/>
                </a:solidFill>
              </a:rPr>
              <a:t> open fracture network </a:t>
            </a:r>
            <a:r>
              <a:rPr lang="fr-CH" sz="2600" dirty="0" err="1">
                <a:solidFill>
                  <a:schemeClr val="tx1"/>
                </a:solidFill>
              </a:rPr>
              <a:t>datasets</a:t>
            </a:r>
            <a:endParaRPr lang="fr-CH" sz="26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CH" sz="2600" dirty="0">
                <a:solidFill>
                  <a:schemeClr val="tx1"/>
                </a:solidFill>
              </a:rPr>
              <a:t> </a:t>
            </a:r>
            <a:r>
              <a:rPr lang="fr-CH" sz="2600" dirty="0" err="1">
                <a:solidFill>
                  <a:schemeClr val="tx1"/>
                </a:solidFill>
              </a:rPr>
              <a:t>Transforming</a:t>
            </a:r>
            <a:r>
              <a:rPr lang="fr-CH" sz="2600" dirty="0">
                <a:solidFill>
                  <a:schemeClr val="tx1"/>
                </a:solidFill>
              </a:rPr>
              <a:t> to graphs</a:t>
            </a:r>
          </a:p>
          <a:p>
            <a:endParaRPr lang="fr-CH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073129-C1B5-143A-8AC6-2AD9F429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pPr/>
              <a:t>7</a:t>
            </a:fld>
            <a:endParaRPr lang="fr-CH"/>
          </a:p>
        </p:txBody>
      </p:sp>
      <p:pic>
        <p:nvPicPr>
          <p:cNvPr id="8" name="Image 7" descr="Une image contenant texte, logiciel, Icône d’ordinateur, nombre&#10;&#10;Le contenu généré par l’IA peut être incorrect.">
            <a:extLst>
              <a:ext uri="{FF2B5EF4-FFF2-40B4-BE49-F238E27FC236}">
                <a16:creationId xmlns:a16="http://schemas.microsoft.com/office/drawing/2014/main" id="{E64BFC91-9373-F019-C6B2-7C7A1A121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423" t="37033" r="24516" b="6021"/>
          <a:stretch>
            <a:fillRect/>
          </a:stretch>
        </p:blipFill>
        <p:spPr>
          <a:xfrm>
            <a:off x="10132088" y="4527211"/>
            <a:ext cx="1363120" cy="2071991"/>
          </a:xfrm>
          <a:prstGeom prst="rect">
            <a:avLst/>
          </a:prstGeom>
        </p:spPr>
      </p:pic>
      <p:pic>
        <p:nvPicPr>
          <p:cNvPr id="9" name="Image 8" descr="Une image contenant texte, logiciel, Icône d’ordinateur, nombre&#10;&#10;Le contenu généré par l’IA peut être incorrect.">
            <a:extLst>
              <a:ext uri="{FF2B5EF4-FFF2-40B4-BE49-F238E27FC236}">
                <a16:creationId xmlns:a16="http://schemas.microsoft.com/office/drawing/2014/main" id="{4C6C6917-15F8-D050-38FF-E53CEC478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66" t="37033" r="60117" b="6021"/>
          <a:stretch>
            <a:fillRect/>
          </a:stretch>
        </p:blipFill>
        <p:spPr>
          <a:xfrm>
            <a:off x="8903962" y="4527211"/>
            <a:ext cx="1249060" cy="207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95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A1BD6F-1C0B-B03D-AA1F-1D70D049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162"/>
            <a:ext cx="10515600" cy="1325563"/>
          </a:xfrm>
        </p:spPr>
        <p:txBody>
          <a:bodyPr/>
          <a:lstStyle/>
          <a:p>
            <a:r>
              <a:rPr lang="fr-CH" dirty="0">
                <a:solidFill>
                  <a:schemeClr val="tx1"/>
                </a:solidFill>
              </a:rPr>
              <a:t>Minutes of meeting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D8087D-9718-50F2-F276-21FB9FCF8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403"/>
            <a:ext cx="10515600" cy="497697"/>
          </a:xfrm>
        </p:spPr>
        <p:txBody>
          <a:bodyPr/>
          <a:lstStyle/>
          <a:p>
            <a:pPr marL="0" indent="0">
              <a:buNone/>
            </a:pPr>
            <a:r>
              <a:rPr lang="fr-CH" dirty="0">
                <a:solidFill>
                  <a:schemeClr val="tx1"/>
                </a:solidFill>
              </a:rPr>
              <a:t>16/01/2026 </a:t>
            </a:r>
            <a:r>
              <a:rPr lang="fr-CH" dirty="0" err="1">
                <a:solidFill>
                  <a:schemeClr val="tx1"/>
                </a:solidFill>
              </a:rPr>
              <a:t>Videoconference</a:t>
            </a:r>
            <a:r>
              <a:rPr lang="fr-CH" dirty="0">
                <a:solidFill>
                  <a:schemeClr val="tx1"/>
                </a:solidFill>
              </a:rPr>
              <a:t> 14:00 – 15:15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A332A2-2321-7CDA-DF5A-24368AD5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7791-ADC1-474A-B370-05DC57981EFE}" type="slidenum">
              <a:rPr lang="fr-CH" smtClean="0"/>
              <a:pPr/>
              <a:t>8</a:t>
            </a:fld>
            <a:endParaRPr lang="fr-CH"/>
          </a:p>
        </p:txBody>
      </p:sp>
      <p:pic>
        <p:nvPicPr>
          <p:cNvPr id="8" name="Image 7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EFDA1E4B-A7E3-1BC0-1058-A3DFF2F3A0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8" t="18730" r="2885" b="15647"/>
          <a:stretch>
            <a:fillRect/>
          </a:stretch>
        </p:blipFill>
        <p:spPr>
          <a:xfrm>
            <a:off x="2141179" y="1876471"/>
            <a:ext cx="7655966" cy="484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749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24886</TotalTime>
  <Words>159</Words>
  <Application>Microsoft Office PowerPoint</Application>
  <PresentationFormat>Grand écran</PresentationFormat>
  <Paragraphs>43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Thème Office</vt:lpstr>
      <vt:lpstr>Présentation PowerPoint</vt:lpstr>
      <vt:lpstr>Collection</vt:lpstr>
      <vt:lpstr>GraphRNN</vt:lpstr>
      <vt:lpstr>DDPM</vt:lpstr>
      <vt:lpstr>Stats Karstnet</vt:lpstr>
      <vt:lpstr>Tries</vt:lpstr>
      <vt:lpstr>Ideas to improve the model</vt:lpstr>
      <vt:lpstr>Minutes of meeting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Burgoa Tanaka Ana Paula</dc:creator>
  <cp:lastModifiedBy>Burgoa Tanaka Ana Paula</cp:lastModifiedBy>
  <cp:revision>90</cp:revision>
  <cp:lastPrinted>2025-10-02T15:26:35Z</cp:lastPrinted>
  <dcterms:created xsi:type="dcterms:W3CDTF">2025-09-23T12:24:53Z</dcterms:created>
  <dcterms:modified xsi:type="dcterms:W3CDTF">2026-01-16T14:35:48Z</dcterms:modified>
</cp:coreProperties>
</file>